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110C"/>
    <a:srgbClr val="F5EB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76EC7-66D0-4DDE-8123-DAF73C10D300}" v="1051" dt="2026-09-11T11:47:17.269"/>
    <p1510:client id="{293E8015-5FAB-434D-96C9-800D7248CE0B}" v="15" dt="2026-09-11T12:32:52.932"/>
    <p1510:client id="{3D5F4A08-E673-484C-947B-6140CEE8717A}" v="306" dt="2026-09-11T11:54:14.723"/>
    <p1510:client id="{40A81869-A744-4FF0-A1DD-451C852EC4D3}" v="231" dt="2026-09-11T13:53:07.145"/>
    <p1510:client id="{B24433D3-2174-4B80-BF8E-16800DFD731C}" v="514" dt="2026-09-11T10:19:28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B9521-66E8-56BF-0EBE-FA859E0E4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993B58-8BFB-3A93-E11A-6676AB327311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52FE6-0B75-9931-3147-CF10F85BD50C}"/>
              </a:ext>
            </a:extLst>
          </p:cNvPr>
          <p:cNvSpPr txBox="1"/>
          <p:nvPr/>
        </p:nvSpPr>
        <p:spPr>
          <a:xfrm>
            <a:off x="8412480" y="5943600"/>
            <a:ext cx="310896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t>MIT ACSC • ALANDI, PUNE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118B20-42EE-5815-E8AE-DBDA8F16EDFB}"/>
              </a:ext>
            </a:extLst>
          </p:cNvPr>
          <p:cNvSpPr/>
          <p:nvPr/>
        </p:nvSpPr>
        <p:spPr>
          <a:xfrm>
            <a:off x="411480" y="1242345"/>
            <a:ext cx="11338560" cy="13716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10AA-DA08-054C-C247-17907A3E759A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D7A5BD-D5A3-5DAE-077D-D12AF223B5BF}"/>
              </a:ext>
            </a:extLst>
          </p:cNvPr>
          <p:cNvSpPr/>
          <p:nvPr/>
        </p:nvSpPr>
        <p:spPr>
          <a:xfrm>
            <a:off x="8415814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B82D12-CD86-6B70-CD13-20A38757FEAC}"/>
              </a:ext>
            </a:extLst>
          </p:cNvPr>
          <p:cNvSpPr txBox="1"/>
          <p:nvPr/>
        </p:nvSpPr>
        <p:spPr>
          <a:xfrm>
            <a:off x="416719" y="321468"/>
            <a:ext cx="40005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KURUKSHETRA 2.0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B24EC9-2437-E6D2-E764-8F13A43BCA63}"/>
              </a:ext>
            </a:extLst>
          </p:cNvPr>
          <p:cNvSpPr txBox="1"/>
          <p:nvPr/>
        </p:nvSpPr>
        <p:spPr>
          <a:xfrm>
            <a:off x="416718" y="785812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HACKFEST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824ED2-4033-0CA5-38FA-81EBB0D17285}"/>
              </a:ext>
            </a:extLst>
          </p:cNvPr>
          <p:cNvSpPr txBox="1"/>
          <p:nvPr/>
        </p:nvSpPr>
        <p:spPr>
          <a:xfrm>
            <a:off x="8384538" y="332790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F999F9-4F39-DB5F-F97A-7C663F76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893" y="1390650"/>
            <a:ext cx="4819650" cy="4695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2920" y="1508760"/>
            <a:ext cx="722376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5EBD2"/>
                </a:solidFill>
                <a:latin typeface="Cambria"/>
              </a:rPr>
              <a:t>JalMitra / JalSetu
जलमित्र / जलसेतु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2633472"/>
            <a:ext cx="70408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0">
                <a:solidFill>
                  <a:srgbClr val="F5EBD2"/>
                </a:solidFill>
                <a:latin typeface="Aptos"/>
              </a:rPr>
              <a:t>Autonomous Water-Sharing Dispute Mediation Agent
&amp; Digital Irrigation Governance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6629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78B2A"/>
                </a:solidFill>
                <a:latin typeface="Aptos"/>
              </a:rPr>
              <a:t>Fair Water • Zero Dispute • Prosperous Harvest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114800"/>
            <a:ext cx="5943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F5EBD2"/>
                </a:solidFill>
                <a:latin typeface="Noto Sans Devanagari"/>
              </a:rPr>
              <a:t>न्यायपूर्ण जल • विवाद-मुक्त शेती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828032"/>
            <a:ext cx="96012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8463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PS14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27632" y="4828032"/>
            <a:ext cx="141732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27632" y="484632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TEAM KH089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82112" y="4828032"/>
            <a:ext cx="141732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82112" y="484632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TEAM SOND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03520"/>
            <a:ext cx="5394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EBD2"/>
                </a:solidFill>
                <a:latin typeface="Aptos"/>
              </a:rPr>
              <a:t>Hackfest 2026 • MIT ACSC, Alandi, Pune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50992"/>
            <a:ext cx="7223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F5EBD2"/>
                </a:solidFill>
                <a:latin typeface="Aptos"/>
              </a:rPr>
              <a:t>Sanskriti Kulkarni • Divesh Patil • Omkar Deshmukh • Namrata Mane</a:t>
            </a:r>
          </a:p>
        </p:txBody>
      </p:sp>
    </p:spTree>
    <p:extLst>
      <p:ext uri="{BB962C8B-B14F-4D97-AF65-F5344CB8AC3E}">
        <p14:creationId xmlns:p14="http://schemas.microsoft.com/office/powerpoint/2010/main" val="395481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C3994-1B00-A4C4-B5F3-8A98A7EB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3625F7-5CFB-907E-0344-A67DD5C2F33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1652D-EFD9-C159-7845-FF1EC81E427A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MIT ACSC • ALANDI, PUNE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4CD951-50BE-6EE3-5108-9D938F6F9647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083CB9-21A5-9E7C-23CE-5ECBCF63DFE3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27E0DE-AD79-CA98-8E48-E91C769B8C42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KURUKSHETRA 2.0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8934DB-8BF0-4001-C61C-8D486C2A67A9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HACKFEST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B23816-FD75-5340-B842-4A2154A3B18E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5B4B6A4-173B-63E9-C843-92755B590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330" y="176212"/>
            <a:ext cx="1712120" cy="170735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80" y="63459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5EBD2"/>
                </a:solidFill>
                <a:latin typeface="Apto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65760"/>
            <a:ext cx="66751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5EBD2"/>
                </a:solidFill>
                <a:latin typeface="Cambria"/>
              </a:rPr>
              <a:t>Understanding the Problem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932688"/>
            <a:ext cx="66751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B78B2A"/>
                </a:solidFill>
                <a:latin typeface="Aptos"/>
              </a:rPr>
              <a:t>Why canal water becomes a dispute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1325880"/>
            <a:ext cx="3657600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" y="1435607"/>
            <a:ext cx="33649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A1128"/>
                </a:solidFill>
                <a:latin typeface="Cambria"/>
              </a:rPr>
              <a:t>UNEQUAL 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" y="1783080"/>
            <a:ext cx="3364992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Head reaches can receive earlier and more reliable flow, while tail-end farmers face delays, shortages and uncertainty.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79392" y="1325880"/>
            <a:ext cx="3657600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25696" y="1435607"/>
            <a:ext cx="33649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A1128"/>
                </a:solidFill>
                <a:latin typeface="Cambria"/>
              </a:rPr>
              <a:t>OPAQUE COMPLAINTS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5696" y="1783080"/>
            <a:ext cx="3364992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Farmers may struggle to explain grievances; manual verification makes status, evidence and duplicate requests harder to track.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55864" y="1325880"/>
            <a:ext cx="3639312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2168" y="1435607"/>
            <a:ext cx="33467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A1128"/>
                </a:solidFill>
                <a:latin typeface="Cambria"/>
              </a:rPr>
              <a:t>COMPETING DEMANDS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1783080"/>
            <a:ext cx="3346704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Crop stage, farm area, entitlement, canal availability and previous shortfalls all matter when supply is limited.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306324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78B2A"/>
                </a:solidFill>
                <a:latin typeface="Cambria"/>
              </a:rPr>
              <a:t>THE REAL CHALLENGE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340156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5EBD2"/>
                </a:solidFill>
                <a:latin typeface="Aptos"/>
              </a:rPr>
              <a:t>A water-sharing decision is not just a scheduling problem — it is a fairness, evidence and governance problem.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0352" y="4133087"/>
            <a:ext cx="3566160" cy="150876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" y="4242816"/>
            <a:ext cx="3273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D83A6"/>
                </a:solidFill>
                <a:latin typeface="Cambria"/>
              </a:rPr>
              <a:t>FARMERS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4590288"/>
            <a:ext cx="3273552" cy="9784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Simple access • voice/text grievance • transparent delivery slot • water-pass visibility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61104" y="4133087"/>
            <a:ext cx="3566160" cy="150876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07408" y="4242816"/>
            <a:ext cx="3273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F7A55"/>
                </a:solidFill>
                <a:latin typeface="Cambria"/>
              </a:rPr>
              <a:t>WATER AUTHORITIES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07408" y="4590288"/>
            <a:ext cx="3273552" cy="9784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Live contention flags • hydraulic intelligence • mediation workspace • ratification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91856" y="4133087"/>
            <a:ext cx="3703320" cy="150876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4242816"/>
            <a:ext cx="3410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B78B2A"/>
                </a:solidFill>
                <a:latin typeface="Cambria"/>
              </a:rPr>
              <a:t>WHY EXISTING APPROACHES FALL SHORT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590288"/>
            <a:ext cx="3410712" cy="9784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Registration/tracking alone does not resolve competing water demands with explainable allocation logic.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797296"/>
            <a:ext cx="11064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9CFC0"/>
                </a:solidFill>
                <a:latin typeface="Aptos"/>
              </a:rPr>
              <a:t>Target stakeholders: Farmers • Water User Associations • Canal Operators • SDO / Executive Engineer</a:t>
            </a:r>
          </a:p>
        </p:txBody>
      </p:sp>
    </p:spTree>
    <p:extLst>
      <p:ext uri="{BB962C8B-B14F-4D97-AF65-F5344CB8AC3E}">
        <p14:creationId xmlns:p14="http://schemas.microsoft.com/office/powerpoint/2010/main" val="3433516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13A57-4890-D92C-7BE5-7114D49C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AEF4E-DD9A-79C6-E471-D0B2D6D7990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5BABB-C31F-CA82-909D-0726D67C0F4D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MIT ACSC • ALANDI, PUNE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EBF1CF-5E91-BCFE-5504-455C1A16AC03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2539A0-C01D-E1E4-BA16-222467E3D6AC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E63B56-9E70-13AC-6D21-CE5832D3272C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KURUKSHETRA 2.0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48529A-9FFA-7BE9-46AB-F10DCAA11D5F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HACKFEST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28B395-363E-5DCE-B325-D63DE05BC2BB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6693CA1-D092-84A1-7B3F-121EB8835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330" y="176212"/>
            <a:ext cx="1712120" cy="170735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80" y="63459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5EBD2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65760"/>
            <a:ext cx="66751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5EBD2"/>
                </a:solidFill>
                <a:latin typeface="Cambria"/>
              </a:rPr>
              <a:t>Proposed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932688"/>
            <a:ext cx="66751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B78B2A"/>
                </a:solidFill>
                <a:latin typeface="Aptos"/>
              </a:rPr>
              <a:t>One platform from grievance → evidence → fair allocation → official accord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1234440"/>
            <a:ext cx="11109960" cy="841248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1371600"/>
            <a:ext cx="1828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5EBD2"/>
                </a:solidFill>
                <a:latin typeface="Cambria"/>
              </a:rPr>
              <a:t>JalMitra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1353312"/>
            <a:ext cx="8732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EBD2"/>
                </a:solidFill>
                <a:latin typeface="Aptos"/>
              </a:rPr>
              <a:t>understands natural-language water requests, checks farm/crop/water context, detects conflicts and recommends explainable mediation options.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" y="2395728"/>
            <a:ext cx="3493008" cy="214884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2505456"/>
            <a:ext cx="3200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D83A6"/>
                </a:solidFill>
                <a:latin typeface="Cambria"/>
              </a:rPr>
              <a:t>FARMER PORTAL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2852928"/>
            <a:ext cx="3200400" cy="1618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• Mobile + PIN authentication
• My Farm: Dam → Canal → Gate → Gat No.
• Water request + hours ↔ liters calculator
• Marathi / Hindi / English voice or text
• Rotation schedule + वारबंदी पास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52544" y="2395728"/>
            <a:ext cx="3493008" cy="214884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8848" y="2505456"/>
            <a:ext cx="3200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F7A55"/>
                </a:solidFill>
                <a:latin typeface="Cambria"/>
              </a:rPr>
              <a:t>AUTHORITY PORTAL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8848" y="2852928"/>
            <a:ext cx="3200400" cy="1618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• Command Center
• Water + Complaint Intelligence
• Live 4-stage Mediation Room
• Cadastral / gate lookup
• SDO final ratification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74736" y="2395728"/>
            <a:ext cx="3465576" cy="214884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505456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B78B2A"/>
                </a:solidFill>
                <a:latin typeface="Cambria"/>
              </a:rPr>
              <a:t>WHAT MAKES IT NOVEL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852928"/>
            <a:ext cx="3172968" cy="1618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• 10-agent mediation pipeline
• Universal 8-rule compliance matrix
• CADA + geodesic matching
• Game-theoretic deficit allocation
• XAI + tamper-proof digital accord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892040"/>
            <a:ext cx="4937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B78B2A"/>
                </a:solidFill>
                <a:latin typeface="Cambria"/>
              </a:rPr>
              <a:t>IMPROVEMENT OVER CONVENTIONAL APPROACHES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5257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5EBD2"/>
                </a:solidFill>
                <a:latin typeface="Aptos"/>
              </a:rPr>
              <a:t>Complaint portal  →  JalMitra: complaint + context + rules + hydraulic evidence + stakeholder objections + consensus.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833872"/>
            <a:ext cx="1051560" cy="310896"/>
          </a:xfrm>
          <a:prstGeom prst="roundRect">
            <a:avLst/>
          </a:prstGeom>
          <a:solidFill>
            <a:srgbClr val="3F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5852159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FAIR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764792" y="5833872"/>
            <a:ext cx="1463040" cy="310896"/>
          </a:xfrm>
          <a:prstGeom prst="roundRect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64792" y="5852159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EXPLAINABLE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83280" y="5833872"/>
            <a:ext cx="132588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0" y="5852159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AUDITABLE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64608" y="5833872"/>
            <a:ext cx="1554480" cy="310896"/>
          </a:xfrm>
          <a:prstGeom prst="roundRect">
            <a:avLst/>
          </a:prstGeom>
          <a:solidFill>
            <a:srgbClr val="B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64608" y="5852159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FARMER-CENTRIC</a:t>
            </a:r>
          </a:p>
        </p:txBody>
      </p:sp>
    </p:spTree>
    <p:extLst>
      <p:ext uri="{BB962C8B-B14F-4D97-AF65-F5344CB8AC3E}">
        <p14:creationId xmlns:p14="http://schemas.microsoft.com/office/powerpoint/2010/main" val="202123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2FD01-B80C-FF83-528F-6A603551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86AB49-A148-4DD6-8568-5CD5A7DE34C3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A8C80-6849-8FB5-144E-F629D1ACE818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MIT ACSC • ALANDI, PUNE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FCA20A-73DF-21BC-37D7-8ED18B74BE12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A30B37-C58E-11A0-AF6F-0403AD1ADC3A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3AFD2E-2931-39A7-F69F-4FA89CE827CD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KURUKSHETRA 2.0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B546E6-F3C6-B26D-CAFF-1FF010965032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HACKFEST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CB3545-0BBA-5C02-9D12-DD40625A0F9B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62FDE79-A6CE-8484-8FEB-5D78DA208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330" y="176212"/>
            <a:ext cx="1712120" cy="170735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80" y="63459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5EBD2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65760"/>
            <a:ext cx="66751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5EBD2"/>
                </a:solidFill>
                <a:latin typeface="Cambria"/>
              </a:rPr>
              <a:t>Technical Approach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932688"/>
            <a:ext cx="66751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B78B2A"/>
                </a:solidFill>
                <a:latin typeface="Aptos"/>
              </a:rPr>
              <a:t>Dual-portal architecture + autonomous decision 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1280160"/>
            <a:ext cx="3063240" cy="1874519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" y="1389888"/>
            <a:ext cx="27706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A1128"/>
                </a:solidFill>
                <a:latin typeface="Cambria"/>
              </a:rPr>
              <a:t>TECH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" y="1737360"/>
            <a:ext cx="2770632" cy="13441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41014"/>
                </a:solidFill>
                <a:latin typeface="Aptos"/>
              </a:rPr>
              <a:t>Frontend: React.js • HTML5 • CSS3 • Tailwind CSS
Backend: Node.js REST APIs
Database: PostgreSQL / persistent data layer
AI: LLM-based understanding + rule engine
Voice: Browser Speech-to-Text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310128"/>
            <a:ext cx="3063240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" y="3419856"/>
            <a:ext cx="27706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F7A55"/>
                </a:solidFill>
                <a:latin typeface="Cambria"/>
              </a:rPr>
              <a:t>PERSISTENCE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" y="3767328"/>
            <a:ext cx="2770632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41014"/>
                </a:solidFill>
                <a:latin typeface="Aptos"/>
              </a:rPr>
              <a:t>Disk: data/database.json
Browser: localStorage mirror for offline resilience
Demo data: farmer, farm, crop, allocation, complaint &amp; dispute records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1298448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7A1128"/>
                </a:solidFill>
                <a:latin typeface="Cambria"/>
              </a:rPr>
              <a:t>SYSTEM ARCHITECTURE / TECHNICAL FLOW</a:t>
            </a:r>
          </a:p>
        </p:txBody>
      </p:sp>
      <p:sp>
        <p:nvSpPr>
          <p:cNvPr id="41" name="Oval 40"/>
          <p:cNvSpPr/>
          <p:nvPr/>
        </p:nvSpPr>
        <p:spPr>
          <a:xfrm>
            <a:off x="3977639" y="1874519"/>
            <a:ext cx="411480" cy="411480"/>
          </a:xfrm>
          <a:prstGeom prst="ellipse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77639" y="1920239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1865376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EBD2"/>
                </a:solidFill>
                <a:latin typeface="Aptos"/>
              </a:rPr>
              <a:t>Farmer / Officer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1865376"/>
            <a:ext cx="3886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9CFC0"/>
                </a:solidFill>
                <a:latin typeface="Aptos"/>
              </a:rPr>
              <a:t>Request • Complaint • Telemetry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87952" y="2295144"/>
            <a:ext cx="0" cy="182880"/>
          </a:xfrm>
          <a:prstGeom prst="line">
            <a:avLst/>
          </a:prstGeom>
          <a:ln w="19050">
            <a:solidFill>
              <a:srgbClr val="B7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977639" y="2487168"/>
            <a:ext cx="411480" cy="411480"/>
          </a:xfrm>
          <a:prstGeom prst="ellipse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77639" y="2532887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2478024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EBD2"/>
                </a:solidFill>
                <a:latin typeface="Aptos"/>
              </a:rPr>
              <a:t>AI Intake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2478024"/>
            <a:ext cx="3886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9CFC0"/>
                </a:solidFill>
                <a:latin typeface="Aptos"/>
              </a:rPr>
              <a:t>Extract crop • farm • urgency • location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187952" y="2907791"/>
            <a:ext cx="0" cy="182881"/>
          </a:xfrm>
          <a:prstGeom prst="line">
            <a:avLst/>
          </a:prstGeom>
          <a:ln w="19050">
            <a:solidFill>
              <a:srgbClr val="B7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3977639" y="3099815"/>
            <a:ext cx="411480" cy="411480"/>
          </a:xfrm>
          <a:prstGeom prst="ellipse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77639" y="3145535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3090672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EBD2"/>
                </a:solidFill>
                <a:latin typeface="Aptos"/>
              </a:rPr>
              <a:t>Evidence Engine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3090672"/>
            <a:ext cx="3886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9CFC0"/>
                </a:solidFill>
                <a:latin typeface="Aptos"/>
              </a:rPr>
              <a:t>Demand • hydraulic loss • GIS • rules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187952" y="3520439"/>
            <a:ext cx="0" cy="182881"/>
          </a:xfrm>
          <a:prstGeom prst="line">
            <a:avLst/>
          </a:prstGeom>
          <a:ln w="19050">
            <a:solidFill>
              <a:srgbClr val="B7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3977639" y="3712464"/>
            <a:ext cx="411480" cy="411480"/>
          </a:xfrm>
          <a:prstGeom prst="ellipse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77639" y="3758184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3703320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EBD2"/>
                </a:solidFill>
                <a:latin typeface="Aptos"/>
              </a:rPr>
              <a:t>Mediation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9480" y="3703320"/>
            <a:ext cx="3886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9CFC0"/>
                </a:solidFill>
                <a:latin typeface="Aptos"/>
              </a:rPr>
              <a:t>Rotation + game-theoretic allocation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187952" y="4133088"/>
            <a:ext cx="0" cy="182880"/>
          </a:xfrm>
          <a:prstGeom prst="line">
            <a:avLst/>
          </a:prstGeom>
          <a:ln w="19050">
            <a:solidFill>
              <a:srgbClr val="B7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977639" y="4325112"/>
            <a:ext cx="411480" cy="411480"/>
          </a:xfrm>
          <a:prstGeom prst="ellipse">
            <a:avLst/>
          </a:prstGeom>
          <a:solidFill>
            <a:srgbClr val="3F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77639" y="437083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26280" y="4315968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EBD2"/>
                </a:solidFill>
                <a:latin typeface="Aptos"/>
              </a:rPr>
              <a:t>Governance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69480" y="4315968"/>
            <a:ext cx="3886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9CFC0"/>
                </a:solidFill>
                <a:latin typeface="Aptos"/>
              </a:rPr>
              <a:t>XAI explanation • SDO ratification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187952" y="4745736"/>
            <a:ext cx="0" cy="182880"/>
          </a:xfrm>
          <a:prstGeom prst="line">
            <a:avLst/>
          </a:prstGeom>
          <a:ln w="19050">
            <a:solidFill>
              <a:srgbClr val="B7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977639" y="4937760"/>
            <a:ext cx="411480" cy="411480"/>
          </a:xfrm>
          <a:prstGeom prst="ellipse">
            <a:avLst/>
          </a:prstGeom>
          <a:solidFill>
            <a:srgbClr val="3F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77639" y="4983480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26280" y="4928616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EBD2"/>
                </a:solidFill>
                <a:latin typeface="Aptos"/>
              </a:rPr>
              <a:t>Outcome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69480" y="4928616"/>
            <a:ext cx="3886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9CFC0"/>
                </a:solidFill>
                <a:latin typeface="Aptos"/>
              </a:rPr>
              <a:t>Accord hash • Water Pass • SMS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05072" y="5669280"/>
            <a:ext cx="1078992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05072" y="5687568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MODULAR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230368" y="5669280"/>
            <a:ext cx="1078992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30368" y="5687568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SCALABLE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72783" y="5669280"/>
            <a:ext cx="987552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72783" y="5687568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SECURE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955279" y="5669280"/>
            <a:ext cx="1170432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55279" y="5687568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API-DRIVEN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77639" y="6035040"/>
            <a:ext cx="7223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5EBD2"/>
                </a:solidFill>
                <a:latin typeface="Aptos"/>
              </a:rPr>
              <a:t>Input → structured evidence → recommendation → authorized decision → traceable outcome</a:t>
            </a:r>
          </a:p>
        </p:txBody>
      </p:sp>
    </p:spTree>
    <p:extLst>
      <p:ext uri="{BB962C8B-B14F-4D97-AF65-F5344CB8AC3E}">
        <p14:creationId xmlns:p14="http://schemas.microsoft.com/office/powerpoint/2010/main" val="3415489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5897B-DCFF-B953-DAE3-05615BE9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CB8FC1-EDA3-6A02-2333-061F6751B0B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25392-F7F2-4102-4866-DE18AB4C2BD7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MIT ACSC • ALANDI, PUNE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FDBACD-D900-3413-E571-74B4C8C5CCEE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7D48B5-50D9-1132-C559-FD950809E628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92CF62-12BF-F935-F40A-BF1A4734D525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KURUKSHETRA 2.0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94D4A4-5D20-F586-D4AF-23535D47AB73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HACKFEST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BEA357-7B56-5380-CD26-4D0CF5261AA9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FD9486B-6844-BDCD-3278-95D0D8E81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5349" y="118703"/>
            <a:ext cx="1712120" cy="170735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80" y="63459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5EBD2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65760"/>
            <a:ext cx="66751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5EBD2"/>
                </a:solidFill>
                <a:latin typeface="Cambria"/>
              </a:rPr>
              <a:t>AI Mediation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932688"/>
            <a:ext cx="66751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B78B2A"/>
                </a:solidFill>
                <a:latin typeface="Aptos"/>
              </a:rPr>
              <a:t>10 specialized agents + Universal 8-Rule Statutory Compliance Matrix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123444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B78B2A"/>
                </a:solidFill>
                <a:latin typeface="Cambria"/>
              </a:rPr>
              <a:t>10 AGENTS</a:t>
            </a:r>
          </a:p>
        </p:txBody>
      </p:sp>
      <p:sp>
        <p:nvSpPr>
          <p:cNvPr id="35" name="Oval 34"/>
          <p:cNvSpPr/>
          <p:nvPr/>
        </p:nvSpPr>
        <p:spPr>
          <a:xfrm>
            <a:off x="530352" y="1627632"/>
            <a:ext cx="393192" cy="393192"/>
          </a:xfrm>
          <a:prstGeom prst="ellipse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1673352"/>
            <a:ext cx="393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1618488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EBD2"/>
                </a:solidFill>
                <a:latin typeface="Aptos"/>
              </a:rPr>
              <a:t>Ingestion &amp; Telemetry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1856232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D9CFC0"/>
                </a:solidFill>
                <a:latin typeface="Aptos"/>
              </a:rPr>
              <a:t>Canal headworks, gates, crop stages</a:t>
            </a:r>
          </a:p>
        </p:txBody>
      </p:sp>
      <p:sp>
        <p:nvSpPr>
          <p:cNvPr id="39" name="Oval 38"/>
          <p:cNvSpPr/>
          <p:nvPr/>
        </p:nvSpPr>
        <p:spPr>
          <a:xfrm>
            <a:off x="530352" y="2395728"/>
            <a:ext cx="393192" cy="393192"/>
          </a:xfrm>
          <a:prstGeom prst="ellipse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2441448"/>
            <a:ext cx="393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1" y="2386584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EBD2"/>
                </a:solidFill>
                <a:latin typeface="Aptos"/>
              </a:rPr>
              <a:t>Agronomic Water Demand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1" y="2624328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D9CFC0"/>
                </a:solidFill>
                <a:latin typeface="Aptos"/>
              </a:rPr>
              <a:t>Crop need via FAO-56 Penman-Monteith</a:t>
            </a:r>
          </a:p>
        </p:txBody>
      </p:sp>
      <p:sp>
        <p:nvSpPr>
          <p:cNvPr id="43" name="Oval 42"/>
          <p:cNvSpPr/>
          <p:nvPr/>
        </p:nvSpPr>
        <p:spPr>
          <a:xfrm>
            <a:off x="530352" y="3163824"/>
            <a:ext cx="393192" cy="393192"/>
          </a:xfrm>
          <a:prstGeom prst="ellipse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3209544"/>
            <a:ext cx="393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1" y="3154680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EBD2"/>
                </a:solidFill>
                <a:latin typeface="Aptos"/>
              </a:rPr>
              <a:t>Hydraulic &amp; Conveyance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1" y="3392424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D9CFC0"/>
                </a:solidFill>
                <a:latin typeface="Aptos"/>
              </a:rPr>
              <a:t>1.5%/km friction loss + transit lead</a:t>
            </a:r>
          </a:p>
        </p:txBody>
      </p:sp>
      <p:sp>
        <p:nvSpPr>
          <p:cNvPr id="47" name="Oval 46"/>
          <p:cNvSpPr/>
          <p:nvPr/>
        </p:nvSpPr>
        <p:spPr>
          <a:xfrm>
            <a:off x="530352" y="3931920"/>
            <a:ext cx="393192" cy="393192"/>
          </a:xfrm>
          <a:prstGeom prst="ellipse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3977639"/>
            <a:ext cx="393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1" y="3922776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EBD2"/>
                </a:solidFill>
                <a:latin typeface="Aptos"/>
              </a:rPr>
              <a:t>Warabandi Scheduler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1" y="4160520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D9CFC0"/>
                </a:solidFill>
                <a:latin typeface="Aptos"/>
              </a:rPr>
              <a:t>Non-overlapping delivery windows</a:t>
            </a:r>
          </a:p>
        </p:txBody>
      </p:sp>
      <p:sp>
        <p:nvSpPr>
          <p:cNvPr id="51" name="Oval 50"/>
          <p:cNvSpPr/>
          <p:nvPr/>
        </p:nvSpPr>
        <p:spPr>
          <a:xfrm>
            <a:off x="530352" y="4700016"/>
            <a:ext cx="393192" cy="393192"/>
          </a:xfrm>
          <a:prstGeom prst="ellipse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4745736"/>
            <a:ext cx="393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1" y="4690872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EBD2"/>
                </a:solidFill>
                <a:latin typeface="Aptos"/>
              </a:rPr>
              <a:t>Grievance Verification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1" y="4928616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D9CFC0"/>
                </a:solidFill>
                <a:latin typeface="Aptos"/>
              </a:rPr>
              <a:t>Checks complaint against 8 rules</a:t>
            </a:r>
          </a:p>
        </p:txBody>
      </p:sp>
      <p:sp>
        <p:nvSpPr>
          <p:cNvPr id="55" name="Oval 54"/>
          <p:cNvSpPr/>
          <p:nvPr/>
        </p:nvSpPr>
        <p:spPr>
          <a:xfrm>
            <a:off x="4023359" y="1627632"/>
            <a:ext cx="393192" cy="393192"/>
          </a:xfrm>
          <a:prstGeom prst="ellipse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23359" y="1673352"/>
            <a:ext cx="393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79" y="1618488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EBD2"/>
                </a:solidFill>
                <a:latin typeface="Aptos"/>
              </a:rPr>
              <a:t>Persona &amp; Objection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79" y="1856232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D9CFC0"/>
                </a:solidFill>
                <a:latin typeface="Aptos"/>
              </a:rPr>
              <a:t>Models stakeholder concerns</a:t>
            </a:r>
          </a:p>
        </p:txBody>
      </p:sp>
      <p:sp>
        <p:nvSpPr>
          <p:cNvPr id="59" name="Oval 58"/>
          <p:cNvSpPr/>
          <p:nvPr/>
        </p:nvSpPr>
        <p:spPr>
          <a:xfrm>
            <a:off x="4023359" y="2395728"/>
            <a:ext cx="393192" cy="393192"/>
          </a:xfrm>
          <a:prstGeom prst="ellipse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23359" y="2441448"/>
            <a:ext cx="393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6279" y="2386584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EBD2"/>
                </a:solidFill>
                <a:latin typeface="Aptos"/>
              </a:rPr>
              <a:t>Mediation &amp; Consensus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6279" y="2624328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D9CFC0"/>
                </a:solidFill>
                <a:latin typeface="Aptos"/>
              </a:rPr>
              <a:t>Game-theoretic sharing under deficit</a:t>
            </a:r>
          </a:p>
        </p:txBody>
      </p:sp>
      <p:sp>
        <p:nvSpPr>
          <p:cNvPr id="63" name="Oval 62"/>
          <p:cNvSpPr/>
          <p:nvPr/>
        </p:nvSpPr>
        <p:spPr>
          <a:xfrm>
            <a:off x="4023359" y="3163824"/>
            <a:ext cx="393192" cy="393192"/>
          </a:xfrm>
          <a:prstGeom prst="ellipse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23359" y="3209544"/>
            <a:ext cx="393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6279" y="3154680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EBD2"/>
                </a:solidFill>
                <a:latin typeface="Aptos"/>
              </a:rPr>
              <a:t>Decision Explanation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26279" y="3392424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D9CFC0"/>
                </a:solidFill>
                <a:latin typeface="Aptos"/>
              </a:rPr>
              <a:t>3-pillar plain-language rationale</a:t>
            </a:r>
          </a:p>
        </p:txBody>
      </p:sp>
      <p:sp>
        <p:nvSpPr>
          <p:cNvPr id="67" name="Oval 66"/>
          <p:cNvSpPr/>
          <p:nvPr/>
        </p:nvSpPr>
        <p:spPr>
          <a:xfrm>
            <a:off x="4023359" y="3931920"/>
            <a:ext cx="393192" cy="393192"/>
          </a:xfrm>
          <a:prstGeom prst="ellipse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23359" y="3977639"/>
            <a:ext cx="393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09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26279" y="3922776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EBD2"/>
                </a:solidFill>
                <a:latin typeface="Aptos"/>
              </a:rPr>
              <a:t>Digital Accord &amp; Audit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79" y="4160520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D9CFC0"/>
                </a:solidFill>
                <a:latin typeface="Aptos"/>
              </a:rPr>
              <a:t>SHA-256 consensus hash</a:t>
            </a:r>
          </a:p>
        </p:txBody>
      </p:sp>
      <p:sp>
        <p:nvSpPr>
          <p:cNvPr id="71" name="Oval 70"/>
          <p:cNvSpPr/>
          <p:nvPr/>
        </p:nvSpPr>
        <p:spPr>
          <a:xfrm>
            <a:off x="4023359" y="4700016"/>
            <a:ext cx="393192" cy="393192"/>
          </a:xfrm>
          <a:prstGeom prst="ellipse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23359" y="4745736"/>
            <a:ext cx="393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26279" y="4690872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EBD2"/>
                </a:solidFill>
                <a:latin typeface="Aptos"/>
              </a:rPr>
              <a:t>Multi-Channel Broadcast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79" y="4928616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D9CFC0"/>
                </a:solidFill>
                <a:latin typeface="Aptos"/>
              </a:rPr>
              <a:t>SMS + notification water passes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26679" y="123444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B78B2A"/>
                </a:solidFill>
                <a:latin typeface="Cambria"/>
              </a:rPr>
              <a:t>8-RULE MATRIX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26679" y="1627632"/>
            <a:ext cx="45720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26679" y="164592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R1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02752" y="1636776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F5EBD2"/>
                </a:solidFill>
                <a:latin typeface="Aptos"/>
              </a:rPr>
              <a:t>Requested allocation ≤ entitlement quota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726679" y="2148840"/>
            <a:ext cx="45720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26679" y="216712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R2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02752" y="2157984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F5EBD2"/>
                </a:solidFill>
                <a:latin typeface="Aptos"/>
              </a:rPr>
              <a:t>Total release ≤ available canal-head storage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726679" y="2670048"/>
            <a:ext cx="45720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26679" y="268833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R3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02752" y="2679191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F5EBD2"/>
                </a:solidFill>
                <a:latin typeface="Aptos"/>
              </a:rPr>
              <a:t>Critical growth stage priority +30 points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726679" y="3191256"/>
            <a:ext cx="45720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26679" y="320954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R4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02752" y="3200400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F5EBD2"/>
                </a:solidFill>
                <a:latin typeface="Aptos"/>
              </a:rPr>
              <a:t>Rotational fairness / previous shortfall +25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726679" y="3712463"/>
            <a:ext cx="45720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726679" y="3730751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R5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02752" y="3721607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F5EBD2"/>
                </a:solidFill>
                <a:latin typeface="Aptos"/>
              </a:rPr>
              <a:t>Protect mandatory downstream tail buffer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726679" y="4233672"/>
            <a:ext cx="45720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26679" y="4251959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R6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02752" y="4242816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F5EBD2"/>
                </a:solidFill>
                <a:latin typeface="Aptos"/>
              </a:rPr>
              <a:t>Suppress duplicate &amp; fraudulent tickets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726679" y="4754880"/>
            <a:ext cx="45720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26679" y="477316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R7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02752" y="4764024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F5EBD2"/>
                </a:solidFill>
                <a:latin typeface="Aptos"/>
              </a:rPr>
              <a:t>Verify agronomic evapotranspiration need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726679" y="5276088"/>
            <a:ext cx="45720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726679" y="5294375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EBD2"/>
                </a:solidFill>
                <a:latin typeface="Aptos"/>
              </a:rPr>
              <a:t>R8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02752" y="5285231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>
                <a:solidFill>
                  <a:srgbClr val="F5EBD2"/>
                </a:solidFill>
                <a:latin typeface="Aptos"/>
              </a:rPr>
              <a:t>SDO final statutory ratification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26679" y="5715000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78B2A"/>
                </a:solidFill>
                <a:latin typeface="Aptos"/>
              </a:rPr>
              <a:t>Decision principle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06840" y="5687568"/>
            <a:ext cx="24231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EBD2"/>
                </a:solidFill>
                <a:latin typeface="Aptos"/>
              </a:rPr>
              <a:t>AI recommends; authorized human authority ratifies.</a:t>
            </a:r>
          </a:p>
        </p:txBody>
      </p:sp>
    </p:spTree>
    <p:extLst>
      <p:ext uri="{BB962C8B-B14F-4D97-AF65-F5344CB8AC3E}">
        <p14:creationId xmlns:p14="http://schemas.microsoft.com/office/powerpoint/2010/main" val="3505270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B6FFB-04AD-6D52-32AF-EF1E63D4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B12743-8D84-9965-76B6-193EC40C822A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BCB2C2-7BC0-8899-F531-910ADC138B22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MIT ACSC • ALANDI, PUNE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26B819-3249-A963-ABFE-0C165A6B6AD2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6D4819-4F34-CFAE-3981-2FA682DA23E1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5145BC-6CA9-1755-ACF4-9E4207BD210B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KURUKSHETRA 2.0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950317-169D-60BC-FEE4-64810B1D3150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HACKFEST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0C26B4-2127-F494-42D0-5183E390E112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6889C4-466C-B473-674C-D0AF28D3C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5349" y="118703"/>
            <a:ext cx="1712120" cy="170735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80" y="63459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5EBD2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65760"/>
            <a:ext cx="66751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5EBD2"/>
                </a:solidFill>
                <a:latin typeface="Cambria"/>
              </a:rPr>
              <a:t>GIS &amp; Water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932688"/>
            <a:ext cx="66751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B78B2A"/>
                </a:solidFill>
                <a:latin typeface="Aptos"/>
              </a:rPr>
              <a:t>Cadastral proximity + hydraulic reach + live mediation context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1280160"/>
            <a:ext cx="3401568" cy="160020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" y="1389888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D83A6"/>
                </a:solidFill>
                <a:latin typeface="Cambria"/>
              </a:rPr>
              <a:t>CADA + GEODESIC MATCHING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" y="1737360"/>
            <a:ext cx="3108960" cy="1069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Haversine distance (R = 6371 km) links farmer location / Gat No. to serving canal and nearest sluice gate.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87368" y="1280160"/>
            <a:ext cx="3401568" cy="160020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33672" y="1389888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F7A55"/>
                </a:solidFill>
                <a:latin typeface="Cambria"/>
              </a:rPr>
              <a:t>GLOBAL REACH DISTRIBUTION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3672" y="1737360"/>
            <a:ext cx="3108960" cy="1069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Head: 0–2 km
Middle: 2–5.5 km
Tail: 5.5–8.5 km
Dynamic gate + transit ETA lookup.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71816" y="1280160"/>
            <a:ext cx="3995928" cy="160020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1389888"/>
            <a:ext cx="3703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B78B2A"/>
                </a:solidFill>
                <a:latin typeface="Cambria"/>
              </a:rPr>
              <a:t>MULTI-STATE EXTENSIBILITY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1737360"/>
            <a:ext cx="3703320" cy="1069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41014"/>
                </a:solidFill>
                <a:latin typeface="Aptos"/>
              </a:rPr>
              <a:t>Maharashtra • Gujarat • Punjab/Haryana • Karnataka
Examples: Nira, Khadakwasla, Kukadi, Pench, Gosikhurd, Sardar Sarovar, Bhakra, Almatti.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3246120"/>
            <a:ext cx="3931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78B2A"/>
                </a:solidFill>
                <a:latin typeface="Cambria"/>
              </a:rPr>
              <a:t>LIVE 4-STAGE MEDIATION ROOM</a:t>
            </a:r>
          </a:p>
        </p:txBody>
      </p:sp>
      <p:sp>
        <p:nvSpPr>
          <p:cNvPr id="44" name="Oval 43"/>
          <p:cNvSpPr/>
          <p:nvPr/>
        </p:nvSpPr>
        <p:spPr>
          <a:xfrm>
            <a:off x="530352" y="3767328"/>
            <a:ext cx="502920" cy="502920"/>
          </a:xfrm>
          <a:prstGeom prst="ellipse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385876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2144" y="3730752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F5EBD2"/>
                </a:solidFill>
                <a:latin typeface="Aptos"/>
              </a:rPr>
              <a:t>Deficit Detection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" y="4087368"/>
            <a:ext cx="1965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D9CFC0"/>
                </a:solidFill>
                <a:latin typeface="Aptos"/>
              </a:rPr>
              <a:t>Competing demands + hydraulic deficit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33271" y="4023360"/>
            <a:ext cx="2240281" cy="0"/>
          </a:xfrm>
          <a:prstGeom prst="line">
            <a:avLst/>
          </a:prstGeom>
          <a:ln w="25400">
            <a:solidFill>
              <a:srgbClr val="B7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328416" y="3767328"/>
            <a:ext cx="502920" cy="502920"/>
          </a:xfrm>
          <a:prstGeom prst="ellipse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8416" y="385876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50208" y="3730752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F5EBD2"/>
                </a:solidFill>
                <a:latin typeface="Aptos"/>
              </a:rPr>
              <a:t>Initial Proposal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50208" y="4087368"/>
            <a:ext cx="1965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D9CFC0"/>
                </a:solidFill>
                <a:latin typeface="Aptos"/>
              </a:rPr>
              <a:t>Fair rotational allocation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831336" y="4023360"/>
            <a:ext cx="2240280" cy="0"/>
          </a:xfrm>
          <a:prstGeom prst="line">
            <a:avLst/>
          </a:prstGeom>
          <a:ln w="25400">
            <a:solidFill>
              <a:srgbClr val="B7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126480" y="3767328"/>
            <a:ext cx="502920" cy="502920"/>
          </a:xfrm>
          <a:prstGeom prst="ellipse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0" y="385876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3730752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F5EBD2"/>
                </a:solidFill>
                <a:latin typeface="Aptos"/>
              </a:rPr>
              <a:t>Objections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48272" y="4087368"/>
            <a:ext cx="1965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D9CFC0"/>
                </a:solidFill>
                <a:latin typeface="Aptos"/>
              </a:rPr>
              <a:t>Contextual farmer objections + concessions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629400" y="4023360"/>
            <a:ext cx="2240280" cy="0"/>
          </a:xfrm>
          <a:prstGeom prst="line">
            <a:avLst/>
          </a:prstGeom>
          <a:ln w="25400">
            <a:solidFill>
              <a:srgbClr val="B7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8924544" y="3767328"/>
            <a:ext cx="502920" cy="502920"/>
          </a:xfrm>
          <a:prstGeom prst="ellipse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24544" y="385876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6336" y="3730752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F5EBD2"/>
                </a:solidFill>
                <a:latin typeface="Aptos"/>
              </a:rPr>
              <a:t>Consensus Accord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46336" y="4087368"/>
            <a:ext cx="1965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D9CFC0"/>
                </a:solidFill>
                <a:latin typeface="Aptos"/>
              </a:rPr>
              <a:t>Decision explanation + official agreement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5074920"/>
            <a:ext cx="2926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B78B2A"/>
                </a:solidFill>
                <a:latin typeface="Cambria"/>
              </a:rPr>
              <a:t>Representative network models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352" y="54406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D9CFC0"/>
                </a:solidFill>
                <a:latin typeface="Aptos"/>
              </a:rPr>
              <a:t>Western Maharashtra: NLB-04 • NRB-01 • KRB-02 • KUK-01   |   Vidarbha: PEN-01 • GOS-01   |   Gujarat: SSN-01   |   Punjab/Haryana: BML-01   |   Karnataka: UKP-01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0352" y="5925312"/>
            <a:ext cx="3246120" cy="310896"/>
          </a:xfrm>
          <a:prstGeom prst="roundRect">
            <a:avLst/>
          </a:prstGeom>
          <a:solidFill>
            <a:srgbClr val="2D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" y="5943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Nagpur Mandarin Orange model • sensitivity 9.8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950208" y="5925312"/>
            <a:ext cx="214884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50208" y="59436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Quick Canal &amp; Gate Lookup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54496" y="5925312"/>
            <a:ext cx="2240280" cy="310896"/>
          </a:xfrm>
          <a:prstGeom prst="roundRect">
            <a:avLst/>
          </a:prstGeom>
          <a:solidFill>
            <a:srgbClr val="3F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54496" y="5943600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Farmer → Gate → Plot pathway</a:t>
            </a:r>
          </a:p>
        </p:txBody>
      </p:sp>
    </p:spTree>
    <p:extLst>
      <p:ext uri="{BB962C8B-B14F-4D97-AF65-F5344CB8AC3E}">
        <p14:creationId xmlns:p14="http://schemas.microsoft.com/office/powerpoint/2010/main" val="1752625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F229A-8CC2-BF09-826C-E3947F35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A9302D-B57E-8391-879C-3C617EAAB1D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211249-0C38-4387-DBB7-023065A05C12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MIT ACSC • ALANDI, PUNE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E16188-78B0-0F65-C973-A721A8011EF1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E0A697-07F7-170B-5F84-FD2848CD8928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09286E-9241-D139-4AF8-9641DAEDB0CD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KURUKSHETRA 2.0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F85401-5C6E-51EB-4811-777588864C5A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HACKFEST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02505E-E95A-AC21-844B-BFC7B2F49E89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8FA158-EB4B-27DF-F969-3BE1F8CE2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5349" y="118703"/>
            <a:ext cx="1712120" cy="170735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80" y="63459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5EBD2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65760"/>
            <a:ext cx="66751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5EBD2"/>
                </a:solidFill>
                <a:latin typeface="Cambria"/>
              </a:rPr>
              <a:t>Feasibility, Impact &amp;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932688"/>
            <a:ext cx="66751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B78B2A"/>
                </a:solidFill>
                <a:latin typeface="Aptos"/>
              </a:rPr>
              <a:t>Built as a deployable prototype with transparent governance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1280160"/>
            <a:ext cx="3611880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" y="1389888"/>
            <a:ext cx="3319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F7A55"/>
                </a:solidFill>
                <a:latin typeface="Cambria"/>
              </a:rPr>
              <a:t>FEASIBILITY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" y="1737360"/>
            <a:ext cx="3319272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Browser-first experience; Node.js REST backend; persistent JSON / database layer; modular agent orchestration; can scale to additional canal networks.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88536" y="1280160"/>
            <a:ext cx="3611880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1389888"/>
            <a:ext cx="3319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A1128"/>
                </a:solidFill>
                <a:latin typeface="Cambria"/>
              </a:rPr>
              <a:t>RISKS → CONTROLS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1737360"/>
            <a:ext cx="3319272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Data quality → validation rules
Conflicting demands → fairness matrix
AI uncertainty → XAI + human ratification
Connectivity → localStorage resilience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74152" y="1280160"/>
            <a:ext cx="3611880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0456" y="1389888"/>
            <a:ext cx="3319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D83A6"/>
                </a:solidFill>
                <a:latin typeface="Cambria"/>
              </a:rPr>
              <a:t>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0456" y="1737360"/>
            <a:ext cx="3319272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41014"/>
                </a:solidFill>
                <a:latin typeface="Aptos"/>
              </a:rPr>
              <a:t>• Fairer head-to-tail access
• Faster complaint handling
• Transparent decisions
• Better water-use governance
• Audit-ready digital accords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324612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78B2A"/>
                </a:solidFill>
                <a:latin typeface="Cambria"/>
              </a:rPr>
              <a:t>PROTOTYPE VALIDATION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" y="3675887"/>
            <a:ext cx="132588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3694175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13 TEST SUITES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93392" y="3675887"/>
            <a:ext cx="1325880" cy="310896"/>
          </a:xfrm>
          <a:prstGeom prst="roundRect">
            <a:avLst/>
          </a:prstGeom>
          <a:solidFill>
            <a:srgbClr val="3F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93392" y="3694175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EBD2"/>
                </a:solidFill>
                <a:latin typeface="Aptos"/>
              </a:rPr>
              <a:t>100% PASSED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4096512"/>
            <a:ext cx="7269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F5EBD2"/>
                </a:solidFill>
                <a:latin typeface="Aptos"/>
              </a:rPr>
              <a:t>Covered: strict authentication • 10 agents • 8 rules • REST APIs • disk persistence • GIS detection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74152" y="3246120"/>
            <a:ext cx="3611880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0456" y="3355848"/>
            <a:ext cx="3319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B78B2A"/>
                </a:solidFill>
                <a:latin typeface="Cambria"/>
              </a:rPr>
              <a:t>RUN LOCALLY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0456" y="3703320"/>
            <a:ext cx="3319272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41014"/>
                </a:solidFill>
                <a:latin typeface="Aptos"/>
              </a:rPr>
              <a:t>A) Open index.html directly
B) node server.js → http://localhost:3000
Verification: agy-node scratch/test_verify.js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4919472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B78B2A"/>
                </a:solidFill>
                <a:latin typeface="Cambria"/>
              </a:rPr>
              <a:t>PROJECT STRUCTURE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528523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9CFC0"/>
                </a:solidFill>
                <a:latin typeface="Aptos"/>
              </a:rPr>
              <a:t>index.html  |  server.js  |  css/styles.css  |  js/app.js  |  js/data.js  |  js/engine.js  |  data/database.json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833872"/>
            <a:ext cx="10972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EBD2"/>
                </a:solidFill>
                <a:latin typeface="Aptos"/>
              </a:rPr>
              <a:t>Outcome: a practical bridge between farmer experience, hydraulic evidence, AI-assisted mediation and statutory authority.</a:t>
            </a:r>
          </a:p>
        </p:txBody>
      </p:sp>
    </p:spTree>
    <p:extLst>
      <p:ext uri="{BB962C8B-B14F-4D97-AF65-F5344CB8AC3E}">
        <p14:creationId xmlns:p14="http://schemas.microsoft.com/office/powerpoint/2010/main" val="1491432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13D5F-6AC0-E2B9-4C29-285F43E1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BF3321-0AE2-12D4-47F0-176213C13A2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EAA090-14B8-5A41-234A-AC8BFEF1DCAC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E9B5C-A619-639C-138F-A2152AB96BEB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D615AE-F71E-21C7-268E-460516C3F69B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B176E0-16C4-5B00-0B9C-BFC2BD302532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F5EBD2"/>
                </a:solidFill>
                <a:latin typeface="Angsana New"/>
                <a:cs typeface="Angsana New"/>
              </a:rPr>
              <a:t>KURUKSHETRA 2.0</a:t>
            </a:r>
            <a:r>
              <a:rPr sz="32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GB" sz="32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7305F7-DF88-2EE4-86B2-37EBA4DF6DAA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5EBD2"/>
                </a:solidFill>
                <a:latin typeface="Angsana New"/>
                <a:cs typeface="Angsana New"/>
              </a:rPr>
              <a:t>HACKFEST 2026</a:t>
            </a:r>
            <a:endParaRPr lang="en-GB" sz="2800" dirty="0">
              <a:solidFill>
                <a:srgbClr val="000000"/>
              </a:solidFill>
              <a:latin typeface="Angsana New"/>
              <a:ea typeface="Calibri"/>
              <a:cs typeface="Angsana New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4A1679-DFF0-6267-31F6-A410B75A4867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 dirty="0">
                <a:solidFill>
                  <a:srgbClr val="F5EBD2"/>
                </a:solidFill>
                <a:latin typeface="Times New Roman"/>
                <a:ea typeface="ＭＳ Ｐゴシック"/>
                <a:cs typeface="Times New Roman"/>
              </a:rPr>
              <a:t>TITLE PAGE</a:t>
            </a:r>
          </a:p>
          <a:p>
            <a:pPr algn="ctr"/>
            <a:endParaRPr lang="en-GB" sz="16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5347FB8-FDD2-5D68-BDAF-F230E0560F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2994191" y="135857"/>
            <a:ext cx="6159809" cy="60220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CB6A7D-F18E-A5FF-CE83-7A703F931F24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[Team name]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8B9F5-8DEE-0420-7BC0-BEF5A84CCD65}"/>
              </a:ext>
            </a:extLst>
          </p:cNvPr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07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95371-132D-6B49-BD1D-7B24E143DF72}"/>
              </a:ext>
            </a:extLst>
          </p:cNvPr>
          <p:cNvSpPr txBox="1"/>
          <p:nvPr/>
        </p:nvSpPr>
        <p:spPr>
          <a:xfrm>
            <a:off x="986505" y="1711272"/>
            <a:ext cx="9640995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4400" b="1" dirty="0">
                <a:solidFill>
                  <a:schemeClr val="bg1"/>
                </a:solidFill>
                <a:ea typeface="+mn-lt"/>
                <a:cs typeface="+mn-lt"/>
              </a:rPr>
              <a:t>Teams may include the necessary points in their slides as per the project requirements and judging criteria.</a:t>
            </a:r>
            <a:endParaRPr lang="en-US" sz="44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4400" b="1" dirty="0">
                <a:solidFill>
                  <a:schemeClr val="bg1"/>
                </a:solidFill>
                <a:ea typeface="+mn-lt"/>
                <a:cs typeface="+mn-lt"/>
              </a:rPr>
              <a:t>Maximum Slides: 10.</a:t>
            </a:r>
            <a:endParaRPr lang="en-GB" sz="44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8770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BC1BA-DFFF-95FB-AACF-8E02338B3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289BF4-AC86-0A2A-7D35-8D17D994EFD5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A0773-A67F-7E31-1D1A-7ECA2F3A6895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MIT ACSC • ALANDI, PUNE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B68FC8-44B2-3715-38B5-0B854FB5C4F0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B8A227-C2D9-2CDA-5960-B5B0F4790A01}"/>
              </a:ext>
            </a:extLst>
          </p:cNvPr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>
            <a:solidFill>
              <a:srgbClr val="211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03E6D1-9474-9F5C-6AB6-3FB319D90FDD}"/>
              </a:ext>
            </a:extLst>
          </p:cNvPr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KURUKSHETRA 2.0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17BE63-7484-FB35-B6EC-307D1FA9AA3D}"/>
              </a:ext>
            </a:extLst>
          </p:cNvPr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HACKFEST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E84950-6B93-F08A-B847-49BEB284BB33}"/>
              </a:ext>
            </a:extLst>
          </p:cNvPr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AF86C29-9855-7F35-C283-5C6306FC10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2994191" y="135857"/>
            <a:ext cx="6159809" cy="60220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4360" y="1143000"/>
            <a:ext cx="6583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5EBD2"/>
                </a:solidFill>
                <a:latin typeface="Cambria"/>
              </a:rPr>
              <a:t>JalMitra / JalSetu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874519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B78B2A"/>
                </a:solidFill>
                <a:latin typeface="Cambria"/>
              </a:rPr>
              <a:t>BUILD WITH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2267712"/>
            <a:ext cx="3364992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2377440"/>
            <a:ext cx="30723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7A1128"/>
                </a:solidFill>
                <a:latin typeface="Cambria"/>
              </a:rP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" y="2724912"/>
            <a:ext cx="307238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41014"/>
                </a:solidFill>
                <a:latin typeface="Aptos"/>
              </a:rPr>
              <a:t>React.js • HTML5 • CSS3 • Tailwind CSS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2267712"/>
            <a:ext cx="3364992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52544" y="2377440"/>
            <a:ext cx="30723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D83A6"/>
                </a:solidFill>
                <a:latin typeface="Cambria"/>
              </a:rPr>
              <a:t>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52544" y="2724912"/>
            <a:ext cx="307238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41014"/>
                </a:solidFill>
                <a:latin typeface="Aptos"/>
              </a:rPr>
              <a:t>Node.js • REST APIs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3182112"/>
            <a:ext cx="3364992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" y="3291840"/>
            <a:ext cx="30723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7A1128"/>
                </a:solidFill>
                <a:latin typeface="Cambria"/>
              </a:rPr>
              <a:t>Database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" y="3639312"/>
            <a:ext cx="307238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41014"/>
                </a:solidFill>
                <a:latin typeface="Aptos"/>
              </a:rPr>
              <a:t>PostgreSQL • JSON persistence • localStorage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3182112"/>
            <a:ext cx="3364992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52544" y="3291840"/>
            <a:ext cx="30723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D83A6"/>
                </a:solidFill>
                <a:latin typeface="Cambria"/>
              </a:rPr>
              <a:t>AI / 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2544" y="3639312"/>
            <a:ext cx="307238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41014"/>
                </a:solidFill>
                <a:latin typeface="Aptos"/>
              </a:rPr>
              <a:t>LLM-based NLP • Rule engine • XAI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096512"/>
            <a:ext cx="3364992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4206240"/>
            <a:ext cx="30723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7A1128"/>
                </a:solidFill>
                <a:latin typeface="Cambria"/>
              </a:rPr>
              <a:t>GIS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" y="4553712"/>
            <a:ext cx="307238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41014"/>
                </a:solidFill>
                <a:latin typeface="Aptos"/>
              </a:rPr>
              <a:t>CADA matching • Haversine geodesic distance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06240" y="4096512"/>
            <a:ext cx="3364992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7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52544" y="4206240"/>
            <a:ext cx="30723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D83A6"/>
                </a:solidFill>
                <a:latin typeface="Cambria"/>
              </a:rPr>
              <a:t>Tools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52544" y="4553712"/>
            <a:ext cx="307238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41014"/>
                </a:solidFill>
                <a:latin typeface="Aptos"/>
              </a:rPr>
              <a:t>Lovable / Claude AI • GitHub • Browser Speech-to-Text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5138928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EBD2"/>
                </a:solidFill>
                <a:latin typeface="Aptos"/>
              </a:rPr>
              <a:t>TEAM SOND • KH089 • PS14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5486400"/>
            <a:ext cx="52120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EBD2"/>
                </a:solidFill>
                <a:latin typeface="Aptos"/>
              </a:rPr>
              <a:t>Sanskriti Kulkarni (Team Lead)
Divesh Patil • Omkar Deshmukh • Namrata Mane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" y="6126480"/>
            <a:ext cx="4343400" cy="310896"/>
          </a:xfrm>
          <a:prstGeom prst="roundRect">
            <a:avLst/>
          </a:prstGeom>
          <a:solidFill>
            <a:srgbClr val="7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6144768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5EBD2"/>
                </a:solidFill>
                <a:latin typeface="Aptos"/>
              </a:rPr>
              <a:t>GITHUB: github.com/Sanskriti-Kulkarni/Mit-hackfest.git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5440680"/>
            <a:ext cx="274320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100" b="1">
                <a:solidFill>
                  <a:srgbClr val="F5EBD2"/>
                </a:solidFill>
                <a:latin typeface="Cambria"/>
              </a:rPr>
              <a:t>THANK YOU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79" y="6080760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B78B2A"/>
                </a:solidFill>
                <a:latin typeface="Aptos"/>
              </a:rPr>
              <a:t>Fair Water • Zero Dispute • Prosperous Harvest</a:t>
            </a:r>
          </a:p>
        </p:txBody>
      </p:sp>
    </p:spTree>
    <p:extLst>
      <p:ext uri="{BB962C8B-B14F-4D97-AF65-F5344CB8AC3E}">
        <p14:creationId xmlns:p14="http://schemas.microsoft.com/office/powerpoint/2010/main" val="11725827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560</cp:revision>
  <dcterms:created xsi:type="dcterms:W3CDTF">2013-01-27T09:14:16Z</dcterms:created>
  <dcterms:modified xsi:type="dcterms:W3CDTF">2026-09-11T13:53:33Z</dcterms:modified>
  <cp:category/>
</cp:coreProperties>
</file>